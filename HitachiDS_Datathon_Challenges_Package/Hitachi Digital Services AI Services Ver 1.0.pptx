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9"/>
  </p:notesMasterIdLst>
  <p:sldIdLst>
    <p:sldId id="314" r:id="rId5"/>
    <p:sldId id="2147483215" r:id="rId6"/>
    <p:sldId id="2147483216" r:id="rId7"/>
    <p:sldId id="382" r:id="rId8"/>
  </p:sldIdLst>
  <p:sldSz cx="12192000" cy="6858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Hitachi Sans" pitchFamily="2" charset="77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51A4314-15B3-75BB-16B9-377C077AAED0}" name="Prafulla Vispute" initials="PV" userId="S::prafulla.vispute@hitachids.com::b15038fb-642f-47c8-939a-2ac1ab483adf" providerId="AD"/>
  <p188:author id="{BF86F376-EA9A-9105-B4F0-BC171864629B}" name="Chandra Ganapathy" initials="" userId="S::chandra.ganapathy@hitachids.com::39e275b9-7d31-4e44-b886-d03a9e6127f0" providerId="AD"/>
  <p188:author id="{1B7FEAC8-E7CE-FD6F-62BC-EBE404261CE1}" name="Mahesh Raghunathan" initials="" userId="S::mahesh.raghunathan@hitachids.com::c3f41673-2277-4442-9079-3c23fc089aed" providerId="AD"/>
  <p188:author id="{F24BDDEC-AAC2-644F-5E22-8E419C4FBD9C}" name="Keith Jones 1" initials="K1" userId="S::keith.jones@hitachids.com::8e2ae185-2877-4209-9d63-9495fb06634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AF606853-7671-496A-8E4F-DF71F8EC918B}" styleName="Dark Style 1 –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82579"/>
  </p:normalViewPr>
  <p:slideViewPr>
    <p:cSldViewPr snapToGrid="0">
      <p:cViewPr varScale="1">
        <p:scale>
          <a:sx n="85" d="100"/>
          <a:sy n="85" d="100"/>
        </p:scale>
        <p:origin x="61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customXml" Target="../customXml/item2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itachi Sans" pitchFamily="2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itachi Sans" pitchFamily="2" charset="0"/>
              </a:defRPr>
            </a:lvl1pPr>
          </a:lstStyle>
          <a:p>
            <a:fld id="{6EB418D2-6CC8-4835-9C14-6C5E91E6DCA9}" type="datetimeFigureOut">
              <a:rPr lang="en-GB" smtClean="0"/>
              <a:pPr/>
              <a:t>08/11/2025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itachi Sans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itachi Sans" pitchFamily="2" charset="0"/>
              </a:defRPr>
            </a:lvl1pPr>
          </a:lstStyle>
          <a:p>
            <a:fld id="{D031864C-0A57-49E1-8FDC-7624A9AEBDB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2623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Hitachi Sans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Hitachi Sans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Hitachi Sans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Hitachi Sans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Hitachi Sans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1864C-0A57-49E1-8FDC-7624A9AEBDB8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430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hitachids.com/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arge Tit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AF063A1-8C8A-7FBB-CF2B-92F1187A46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9900" y="3252192"/>
            <a:ext cx="7445375" cy="1538883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headline title placeholder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B67D6BA-0D97-2FB2-2A3C-DBD02F81E3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7499" y="366838"/>
            <a:ext cx="3033011" cy="672537"/>
          </a:xfrm>
          <a:prstGeom prst="rect">
            <a:avLst/>
          </a:prstGeom>
        </p:spPr>
      </p:pic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21748F4E-4BDF-C0D4-341C-3978098D480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69901" y="482918"/>
            <a:ext cx="3935412" cy="304699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buNone/>
              <a:defRPr sz="22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Hitachi Digital Services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6B3680C-9243-16E9-159B-3DE694CAFE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902" y="5530876"/>
            <a:ext cx="3644898" cy="691856"/>
          </a:xfrm>
        </p:spPr>
        <p:txBody>
          <a:bodyPr wrap="square" anchor="b" anchorCtr="0">
            <a:spAutoFit/>
          </a:bodyPr>
          <a:lstStyle>
            <a:lvl1pPr marL="0" indent="0">
              <a:lnSpc>
                <a:spcPct val="110000"/>
              </a:lnSpc>
              <a:buNone/>
              <a:defRPr sz="1200" b="1">
                <a:solidFill>
                  <a:schemeClr val="bg1"/>
                </a:solidFill>
              </a:defRPr>
            </a:lvl1pPr>
            <a:lvl2pPr marL="0" indent="0">
              <a:lnSpc>
                <a:spcPct val="110000"/>
              </a:lnSpc>
              <a:spcAft>
                <a:spcPts val="600"/>
              </a:spcAft>
              <a:buNone/>
              <a:defRPr sz="1800">
                <a:solidFill>
                  <a:schemeClr val="bg1"/>
                </a:solidFill>
              </a:defRPr>
            </a:lvl2pPr>
            <a:lvl3pPr marL="108000">
              <a:defRPr sz="1200">
                <a:solidFill>
                  <a:schemeClr val="bg1"/>
                </a:solidFill>
              </a:defRPr>
            </a:lvl3pPr>
            <a:lvl4pPr marL="216000"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Add small title and use indent button to toggle to the next text style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4E4E2242-DEFD-DF22-D2A6-669DC12B71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3551" y="5529600"/>
            <a:ext cx="3644898" cy="691856"/>
          </a:xfrm>
        </p:spPr>
        <p:txBody>
          <a:bodyPr wrap="square" anchor="b" anchorCtr="0">
            <a:spAutoFit/>
          </a:bodyPr>
          <a:lstStyle>
            <a:lvl1pPr marL="0" indent="0">
              <a:lnSpc>
                <a:spcPct val="110000"/>
              </a:lnSpc>
              <a:buNone/>
              <a:defRPr sz="1200" b="1">
                <a:solidFill>
                  <a:schemeClr val="bg1"/>
                </a:solidFill>
              </a:defRPr>
            </a:lvl1pPr>
            <a:lvl2pPr marL="0" indent="0">
              <a:lnSpc>
                <a:spcPct val="110000"/>
              </a:lnSpc>
              <a:spcAft>
                <a:spcPts val="600"/>
              </a:spcAft>
              <a:buNone/>
              <a:defRPr sz="1800">
                <a:solidFill>
                  <a:schemeClr val="bg1"/>
                </a:solidFill>
              </a:defRPr>
            </a:lvl2pPr>
            <a:lvl3pPr marL="108000">
              <a:defRPr sz="1200">
                <a:solidFill>
                  <a:schemeClr val="bg1"/>
                </a:solidFill>
              </a:defRPr>
            </a:lvl3pPr>
            <a:lvl4pPr marL="216000"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Add small title and use indent button to toggle to the next text style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414CB0-18D0-6EC7-4D0E-2E54E9240E27}"/>
              </a:ext>
            </a:extLst>
          </p:cNvPr>
          <p:cNvSpPr txBox="1"/>
          <p:nvPr userDrawn="1"/>
        </p:nvSpPr>
        <p:spPr>
          <a:xfrm>
            <a:off x="8822724" y="6372000"/>
            <a:ext cx="2897137" cy="1276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GB" sz="800" b="1">
                <a:solidFill>
                  <a:schemeClr val="bg1"/>
                </a:solidFill>
                <a:effectLst/>
                <a:latin typeface="+mn-lt"/>
              </a:rPr>
              <a:t>© Hitachi Digital Services 2025.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1572864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Dar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AC5D1-F941-4BC0-9D59-222126016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Hitachi Digital Services   |   Presentation headline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0B1F6-F5F9-C1D4-48E6-D01CBFAA2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F4BC05-462B-4F19-BE6B-A1043C81AA7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62A3E3D5-B7AF-B9BF-1418-806BA6C67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9900" y="698500"/>
            <a:ext cx="6496050" cy="415498"/>
          </a:xfrm>
        </p:spPr>
        <p:txBody>
          <a:bodyPr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GB"/>
              <a:t>Divider title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940EB3D-815C-1B62-7765-73A514B534E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28817" y="388800"/>
            <a:ext cx="1026000" cy="227505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E50D42E-A753-265B-D758-DC1B416B5AE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73075" y="403200"/>
            <a:ext cx="4591050" cy="206339"/>
          </a:xfrm>
        </p:spPr>
        <p:txBody>
          <a:bodyPr wrap="square">
            <a:spAutoFit/>
          </a:bodyPr>
          <a:lstStyle>
            <a:lvl1pPr marL="0" indent="0">
              <a:buNone/>
              <a:defRPr sz="13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Running 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5D0051-4301-4DC2-89D4-2DC159A06831}"/>
              </a:ext>
            </a:extLst>
          </p:cNvPr>
          <p:cNvSpPr txBox="1"/>
          <p:nvPr userDrawn="1"/>
        </p:nvSpPr>
        <p:spPr>
          <a:xfrm>
            <a:off x="8822724" y="6372000"/>
            <a:ext cx="2897137" cy="1276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GB" sz="800" b="1">
                <a:solidFill>
                  <a:schemeClr val="bg1"/>
                </a:solidFill>
                <a:effectLst/>
                <a:latin typeface="+mn-lt"/>
              </a:rPr>
              <a:t>© Hitachi Digital Services 2025.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9869132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Content +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AC5D1-F941-4BC0-9D59-222126016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Hitachi Digital Services   |   Presentation headline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0B1F6-F5F9-C1D4-48E6-D01CBFAA2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4BC05-462B-4F19-BE6B-A1043C81AA78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B37EA97-C44B-705D-AC93-A5812420624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73075" y="403200"/>
            <a:ext cx="4591050" cy="206339"/>
          </a:xfrm>
        </p:spPr>
        <p:txBody>
          <a:bodyPr wrap="square">
            <a:spAutoFit/>
          </a:bodyPr>
          <a:lstStyle>
            <a:lvl1pPr marL="0" indent="0">
              <a:buNone/>
              <a:defRPr sz="13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Running header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663CAC-3B02-4E5A-3D00-FF26D57C8A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8817" y="388800"/>
            <a:ext cx="1026000" cy="227505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9027655-3A07-CFA2-21CD-6AEB3A2BDED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24225" y="698501"/>
            <a:ext cx="8394700" cy="5461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icon to add image or other content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E55866B3-91AA-6790-6A87-68E1AF6530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6250" y="2060575"/>
            <a:ext cx="2689225" cy="40989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C624B94-0C42-71AF-2010-2F1985232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698500"/>
            <a:ext cx="2695576" cy="609398"/>
          </a:xfrm>
        </p:spPr>
        <p:txBody>
          <a:bodyPr>
            <a:sp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34A003-5057-9E9D-42F4-9A14F899F975}"/>
              </a:ext>
            </a:extLst>
          </p:cNvPr>
          <p:cNvSpPr txBox="1"/>
          <p:nvPr userDrawn="1"/>
        </p:nvSpPr>
        <p:spPr>
          <a:xfrm>
            <a:off x="8822724" y="6372000"/>
            <a:ext cx="2897137" cy="1276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GB" sz="800" b="1">
                <a:solidFill>
                  <a:schemeClr val="tx1"/>
                </a:solidFill>
                <a:effectLst/>
                <a:latin typeface="+mn-lt"/>
              </a:rPr>
              <a:t>© Hitachi Digital Services 2025.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94016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FOR PR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AC5D1-F941-4BC0-9D59-222126016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Hitachi Digital Services   |   Presentation headline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0B1F6-F5F9-C1D4-48E6-D01CBFAA2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9F4BC05-462B-4F19-BE6B-A1043C81AA7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1">
            <a:extLst>
              <a:ext uri="{FF2B5EF4-FFF2-40B4-BE49-F238E27FC236}">
                <a16:creationId xmlns:a16="http://schemas.microsoft.com/office/drawing/2014/main" id="{9DE064D3-2423-52FC-7D3C-3B36D944DB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073" y="632438"/>
            <a:ext cx="7442201" cy="1315745"/>
          </a:xfrm>
        </p:spPr>
        <p:txBody>
          <a:bodyPr lIns="0" tIns="0"/>
          <a:lstStyle>
            <a:lvl1pPr>
              <a:defRPr sz="9500">
                <a:solidFill>
                  <a:schemeClr val="tx1"/>
                </a:solidFill>
              </a:defRPr>
            </a:lvl1pPr>
          </a:lstStyle>
          <a:p>
            <a:r>
              <a:rPr lang="en-GB"/>
              <a:t>Thank you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46879F8-9C42-BF25-6A3B-0722A1C143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3072" y="3883025"/>
            <a:ext cx="1743077" cy="1820141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Office Name</a:t>
            </a:r>
            <a:br>
              <a:rPr lang="en-GB"/>
            </a:br>
            <a:r>
              <a:rPr lang="en-GB"/>
              <a:t>1st line address</a:t>
            </a:r>
            <a:br>
              <a:rPr lang="en-GB"/>
            </a:br>
            <a:r>
              <a:rPr lang="en-GB"/>
              <a:t>2nd line address</a:t>
            </a:r>
            <a:br>
              <a:rPr lang="en-GB"/>
            </a:br>
            <a:r>
              <a:rPr lang="en-GB"/>
              <a:t>3rd line address</a:t>
            </a:r>
            <a:br>
              <a:rPr lang="en-GB"/>
            </a:br>
            <a:r>
              <a:rPr lang="en-GB"/>
              <a:t>+81 01 2345 6789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9ABC235-BAF6-52C4-DB25-35FC888B1E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01937" y="3883891"/>
            <a:ext cx="1743076" cy="1820141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Office Name</a:t>
            </a:r>
            <a:br>
              <a:rPr lang="en-GB"/>
            </a:br>
            <a:r>
              <a:rPr lang="en-GB"/>
              <a:t>1st line address</a:t>
            </a:r>
            <a:br>
              <a:rPr lang="en-GB"/>
            </a:br>
            <a:r>
              <a:rPr lang="en-GB"/>
              <a:t>2nd line address</a:t>
            </a:r>
            <a:br>
              <a:rPr lang="en-GB"/>
            </a:br>
            <a:r>
              <a:rPr lang="en-GB"/>
              <a:t>3rd line address</a:t>
            </a:r>
            <a:br>
              <a:rPr lang="en-GB"/>
            </a:br>
            <a:r>
              <a:rPr lang="en-GB"/>
              <a:t>+81 01 2345 6789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0EDDCB9D-7148-31C4-36C1-993E562F30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00587" y="3882159"/>
            <a:ext cx="1716038" cy="1820141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Office Name</a:t>
            </a:r>
            <a:br>
              <a:rPr lang="en-GB"/>
            </a:br>
            <a:r>
              <a:rPr lang="en-GB"/>
              <a:t>1st line address</a:t>
            </a:r>
            <a:br>
              <a:rPr lang="en-GB"/>
            </a:br>
            <a:r>
              <a:rPr lang="en-GB"/>
              <a:t>2nd line address</a:t>
            </a:r>
            <a:br>
              <a:rPr lang="en-GB"/>
            </a:br>
            <a:r>
              <a:rPr lang="en-GB"/>
              <a:t>3rd line address</a:t>
            </a:r>
            <a:br>
              <a:rPr lang="en-GB"/>
            </a:br>
            <a:r>
              <a:rPr lang="en-GB"/>
              <a:t>+81 01 2345 6789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E0ADB16-1CD3-6F48-014D-BBE2C0BAE0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8817" y="388800"/>
            <a:ext cx="1026000" cy="2275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713DB8-5957-0DE5-E55D-982B57AC8744}"/>
              </a:ext>
            </a:extLst>
          </p:cNvPr>
          <p:cNvSpPr txBox="1"/>
          <p:nvPr userDrawn="1"/>
        </p:nvSpPr>
        <p:spPr>
          <a:xfrm>
            <a:off x="8822724" y="6372000"/>
            <a:ext cx="2897137" cy="1276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GB" sz="800" b="1">
                <a:solidFill>
                  <a:schemeClr val="tx1"/>
                </a:solidFill>
                <a:effectLst/>
                <a:latin typeface="+mn-lt"/>
              </a:rPr>
              <a:t>© Hitachi Digital Services 2025. All Rights Reserved</a:t>
            </a:r>
          </a:p>
        </p:txBody>
      </p:sp>
      <p:sp>
        <p:nvSpPr>
          <p:cNvPr id="8" name="Text Placeholder 42">
            <a:extLst>
              <a:ext uri="{FF2B5EF4-FFF2-40B4-BE49-F238E27FC236}">
                <a16:creationId xmlns:a16="http://schemas.microsoft.com/office/drawing/2014/main" id="{C09BDD22-7C4B-9C88-FDC7-11571BD287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02411" y="3882160"/>
            <a:ext cx="1712863" cy="1820140"/>
          </a:xfrm>
        </p:spPr>
        <p:txBody>
          <a:bodyPr anchor="b"/>
          <a:lstStyle>
            <a:lvl1pPr marL="0" indent="0">
              <a:buNone/>
              <a:defRPr/>
            </a:lvl1pPr>
          </a:lstStyle>
          <a:p>
            <a:r>
              <a:rPr lang="en-GB" u="sng" err="1">
                <a:hlinkClick r:id="rId4"/>
              </a:rPr>
              <a:t>www.hitachids.com</a:t>
            </a:r>
            <a:endParaRPr lang="en-GB" u="sng">
              <a:hlinkClick r:id="rId4"/>
            </a:endParaRPr>
          </a:p>
        </p:txBody>
      </p:sp>
    </p:spTree>
    <p:extLst>
      <p:ext uri="{BB962C8B-B14F-4D97-AF65-F5344CB8AC3E}">
        <p14:creationId xmlns:p14="http://schemas.microsoft.com/office/powerpoint/2010/main" val="34899344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5B67D6BA-0D97-2FB2-2A3C-DBD02F81E3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06572" y="2711508"/>
            <a:ext cx="6586999" cy="146059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D6CC10-A952-60F4-7812-A967F1C9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Hitachi Digital Services   |   Presentation headline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83C4E-858D-BC45-9F64-7D225EEFE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4BC05-462B-4F19-BE6B-A1043C81AA7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C72C8D-9499-C230-6328-A7942C4830A8}"/>
              </a:ext>
            </a:extLst>
          </p:cNvPr>
          <p:cNvSpPr txBox="1"/>
          <p:nvPr userDrawn="1"/>
        </p:nvSpPr>
        <p:spPr>
          <a:xfrm>
            <a:off x="8822724" y="6372000"/>
            <a:ext cx="2897137" cy="1276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GB" sz="800" b="1">
                <a:solidFill>
                  <a:schemeClr val="tx1"/>
                </a:solidFill>
                <a:effectLst/>
                <a:latin typeface="+mn-lt"/>
              </a:rPr>
              <a:t>© Hitachi Digital Services 2025.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7276711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62A3E3D5-B7AF-B9BF-1418-806BA6C67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9900" y="1002021"/>
            <a:ext cx="6496051" cy="415499"/>
          </a:xfrm>
        </p:spPr>
        <p:txBody>
          <a:bodyPr/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GB"/>
              <a:t>Divider title here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76C0F0C-B7EB-24FA-2A30-3158C6DFA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" y="6484044"/>
            <a:ext cx="432000" cy="144000"/>
          </a:xfrm>
          <a:prstGeom prst="rect">
            <a:avLst/>
          </a:prstGeom>
        </p:spPr>
        <p:txBody>
          <a:bodyPr/>
          <a:lstStyle/>
          <a:p>
            <a:fld id="{29F4BC05-462B-4F19-BE6B-A1043C81AA78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D0137A5-0393-A55F-887F-8A0A2DDC2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01" y="6484044"/>
            <a:ext cx="6943275" cy="14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Hitachi Digital Services | Managed Services and Vendor Consolidation Overview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8AA804-F6EA-0C7C-524F-3EEBB35050AE}"/>
              </a:ext>
            </a:extLst>
          </p:cNvPr>
          <p:cNvSpPr txBox="1"/>
          <p:nvPr userDrawn="1"/>
        </p:nvSpPr>
        <p:spPr>
          <a:xfrm>
            <a:off x="8822724" y="6372000"/>
            <a:ext cx="2897137" cy="1276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GB" sz="800" b="1">
                <a:solidFill>
                  <a:schemeClr val="tx1"/>
                </a:solidFill>
                <a:effectLst/>
                <a:latin typeface="+mn-lt"/>
              </a:rPr>
              <a:t>© Hitachi Digital Services 2025.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748241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73600-6958-D186-27EF-E405A9776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979" y="404813"/>
            <a:ext cx="11367034" cy="376238"/>
          </a:xfrm>
        </p:spPr>
        <p:txBody>
          <a:bodyPr lIns="90000" rIns="90000" anchor="ctr" anchorCtr="0"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0AEFC-957E-94EA-AC5D-5C69F561C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9441" y="6457416"/>
            <a:ext cx="563563" cy="18760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 b="0">
                <a:solidFill>
                  <a:schemeClr val="tx1"/>
                </a:solidFill>
              </a:defRPr>
            </a:lvl1pPr>
          </a:lstStyle>
          <a:p>
            <a:fld id="{B0DE22C2-E2FD-454A-B067-D49AEB31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742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3A2859-6C9C-E5B0-A3D4-701F3F290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899" y="698500"/>
            <a:ext cx="7445375" cy="3046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6F459-A3F6-C3D9-5334-6DC2CAF0A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075" y="1520825"/>
            <a:ext cx="11249025" cy="46386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3E64D-C0FA-D86C-8A69-4BC530F55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50425" y="6336000"/>
            <a:ext cx="1971675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D94A7-1278-5685-B031-C22FE5792A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2000" y="6336000"/>
            <a:ext cx="6943275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Hitachi Digital Services    |   Presentation headline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548AB-2006-AC9E-3250-04C844CB0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3075" y="6336000"/>
            <a:ext cx="432000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>
                <a:solidFill>
                  <a:schemeClr val="tx1"/>
                </a:solidFill>
              </a:defRPr>
            </a:lvl1pPr>
          </a:lstStyle>
          <a:p>
            <a:fld id="{29F4BC05-462B-4F19-BE6B-A1043C81AA7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6683E88-CC7F-B603-CC3D-1F5C34D54ED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28817" y="388800"/>
            <a:ext cx="1026000" cy="22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66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19" r:id="rId2"/>
    <p:sldLayoutId id="2147483723" r:id="rId3"/>
    <p:sldLayoutId id="2147483728" r:id="rId4"/>
    <p:sldLayoutId id="2147483729" r:id="rId5"/>
    <p:sldLayoutId id="2147483731" r:id="rId6"/>
    <p:sldLayoutId id="2147483732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000" indent="-144000" algn="l" defTabSz="914400" rtl="0" eaLnBrk="1" latinLnBrk="0" hangingPunct="1">
        <a:lnSpc>
          <a:spcPct val="110000"/>
        </a:lnSpc>
        <a:spcBef>
          <a:spcPts val="600"/>
        </a:spcBef>
        <a:buClrTx/>
        <a:buFont typeface="Hitachi Sans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44000" indent="-144000" algn="l" defTabSz="914400" rtl="0" eaLnBrk="1" latinLnBrk="0" hangingPunct="1">
        <a:lnSpc>
          <a:spcPct val="110000"/>
        </a:lnSpc>
        <a:spcBef>
          <a:spcPts val="0"/>
        </a:spcBef>
        <a:buClrTx/>
        <a:buFont typeface="Hitachi Sans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288000" indent="-144000" algn="l" defTabSz="914400" rtl="0" eaLnBrk="1" latinLnBrk="0" hangingPunct="1">
        <a:lnSpc>
          <a:spcPct val="110000"/>
        </a:lnSpc>
        <a:spcBef>
          <a:spcPts val="0"/>
        </a:spcBef>
        <a:buClrTx/>
        <a:buFont typeface="Hitachi Sans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432000" indent="-144000" algn="l" defTabSz="914400" rtl="0" eaLnBrk="1" latinLnBrk="0" hangingPunct="1">
        <a:lnSpc>
          <a:spcPct val="110000"/>
        </a:lnSpc>
        <a:spcBef>
          <a:spcPts val="0"/>
        </a:spcBef>
        <a:buClrTx/>
        <a:buFont typeface="Hitachi Sans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Hitachi Sans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12">
          <p15:clr>
            <a:srgbClr val="F26B43"/>
          </p15:clr>
        </p15:guide>
        <p15:guide id="2" pos="296">
          <p15:clr>
            <a:srgbClr val="F26B43"/>
          </p15:clr>
        </p15:guide>
        <p15:guide id="3" pos="7378">
          <p15:clr>
            <a:srgbClr val="F26B43"/>
          </p15:clr>
        </p15:guide>
        <p15:guide id="4" orient="horz" pos="1298">
          <p15:clr>
            <a:srgbClr val="F26B43"/>
          </p15:clr>
        </p15:guide>
        <p15:guide id="5" orient="horz" pos="726">
          <p15:clr>
            <a:srgbClr val="F26B43"/>
          </p15:clr>
        </p15:guide>
        <p15:guide id="6" pos="796">
          <p15:clr>
            <a:srgbClr val="F26B43"/>
          </p15:clr>
        </p15:guide>
        <p15:guide id="7" pos="896">
          <p15:clr>
            <a:srgbClr val="F26B43"/>
          </p15:clr>
        </p15:guide>
        <p15:guide id="8" pos="1396">
          <p15:clr>
            <a:srgbClr val="F26B43"/>
          </p15:clr>
        </p15:guide>
        <p15:guide id="9" pos="1496">
          <p15:clr>
            <a:srgbClr val="F26B43"/>
          </p15:clr>
        </p15:guide>
        <p15:guide id="10" pos="1994">
          <p15:clr>
            <a:srgbClr val="F26B43"/>
          </p15:clr>
        </p15:guide>
        <p15:guide id="11" pos="2094">
          <p15:clr>
            <a:srgbClr val="F26B43"/>
          </p15:clr>
        </p15:guide>
        <p15:guide id="12" pos="2592">
          <p15:clr>
            <a:srgbClr val="F26B43"/>
          </p15:clr>
        </p15:guide>
        <p15:guide id="13" pos="2692">
          <p15:clr>
            <a:srgbClr val="F26B43"/>
          </p15:clr>
        </p15:guide>
        <p15:guide id="14" pos="3190">
          <p15:clr>
            <a:srgbClr val="F26B43"/>
          </p15:clr>
        </p15:guide>
        <p15:guide id="15" pos="3290">
          <p15:clr>
            <a:srgbClr val="F26B43"/>
          </p15:clr>
        </p15:guide>
        <p15:guide id="16" pos="3790">
          <p15:clr>
            <a:srgbClr val="F26B43"/>
          </p15:clr>
        </p15:guide>
        <p15:guide id="17" pos="3890">
          <p15:clr>
            <a:srgbClr val="F26B43"/>
          </p15:clr>
        </p15:guide>
        <p15:guide id="18" pos="4388">
          <p15:clr>
            <a:srgbClr val="F26B43"/>
          </p15:clr>
        </p15:guide>
        <p15:guide id="19" pos="4488">
          <p15:clr>
            <a:srgbClr val="F26B43"/>
          </p15:clr>
        </p15:guide>
        <p15:guide id="20" pos="4986">
          <p15:clr>
            <a:srgbClr val="F26B43"/>
          </p15:clr>
        </p15:guide>
        <p15:guide id="21" pos="5086">
          <p15:clr>
            <a:srgbClr val="F26B43"/>
          </p15:clr>
        </p15:guide>
        <p15:guide id="22" pos="5584">
          <p15:clr>
            <a:srgbClr val="F26B43"/>
          </p15:clr>
        </p15:guide>
        <p15:guide id="23" pos="5684">
          <p15:clr>
            <a:srgbClr val="F26B43"/>
          </p15:clr>
        </p15:guide>
        <p15:guide id="24" pos="6182">
          <p15:clr>
            <a:srgbClr val="F26B43"/>
          </p15:clr>
        </p15:guide>
        <p15:guide id="25" pos="6282">
          <p15:clr>
            <a:srgbClr val="F26B43"/>
          </p15:clr>
        </p15:guide>
        <p15:guide id="26" pos="6780">
          <p15:clr>
            <a:srgbClr val="F26B43"/>
          </p15:clr>
        </p15:guide>
        <p15:guide id="27" pos="6880">
          <p15:clr>
            <a:srgbClr val="F26B43"/>
          </p15:clr>
        </p15:guide>
        <p15:guide id="28" orient="horz" pos="1586">
          <p15:clr>
            <a:srgbClr val="F26B43"/>
          </p15:clr>
        </p15:guide>
        <p15:guide id="29" orient="horz" pos="1872">
          <p15:clr>
            <a:srgbClr val="F26B43"/>
          </p15:clr>
        </p15:guide>
        <p15:guide id="30" orient="horz" pos="2158">
          <p15:clr>
            <a:srgbClr val="F26B43"/>
          </p15:clr>
        </p15:guide>
        <p15:guide id="31" orient="horz" pos="2446">
          <p15:clr>
            <a:srgbClr val="F26B43"/>
          </p15:clr>
        </p15:guide>
        <p15:guide id="32" orient="horz" pos="2732">
          <p15:clr>
            <a:srgbClr val="F26B43"/>
          </p15:clr>
        </p15:guide>
        <p15:guide id="33" orient="horz" pos="3018">
          <p15:clr>
            <a:srgbClr val="F26B43"/>
          </p15:clr>
        </p15:guide>
        <p15:guide id="34" orient="horz" pos="3306">
          <p15:clr>
            <a:srgbClr val="F26B43"/>
          </p15:clr>
        </p15:guide>
        <p15:guide id="35" orient="horz" pos="3592">
          <p15:clr>
            <a:srgbClr val="F26B43"/>
          </p15:clr>
        </p15:guide>
        <p15:guide id="36" orient="horz" pos="3880">
          <p15:clr>
            <a:srgbClr val="F26B43"/>
          </p15:clr>
        </p15:guide>
        <p15:guide id="37" orient="horz" pos="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C6DC14-9FE3-BAE0-0900-7BEF37942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EE8E4-861D-C1CF-7765-63C445C0B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1" y="2920444"/>
            <a:ext cx="11440500" cy="1879474"/>
          </a:xfrm>
        </p:spPr>
        <p:txBody>
          <a:bodyPr>
            <a:noAutofit/>
          </a:bodyPr>
          <a:lstStyle/>
          <a:p>
            <a:r>
              <a:rPr lang="en-US" sz="6500" dirty="0"/>
              <a:t>Hitachi DS </a:t>
            </a:r>
            <a:r>
              <a:rPr lang="en-US" sz="6500" dirty="0" err="1"/>
              <a:t>Datathon</a:t>
            </a:r>
            <a:r>
              <a:rPr lang="en-US" sz="6500" dirty="0"/>
              <a:t> Challenge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061EE-0843-D38C-6DEA-2B6C00B11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9901" y="482918"/>
            <a:ext cx="3935412" cy="304699"/>
          </a:xfrm>
        </p:spPr>
        <p:txBody>
          <a:bodyPr/>
          <a:lstStyle/>
          <a:p>
            <a:pPr lvl="0"/>
            <a:r>
              <a:rPr lang="en-GB" noProof="0"/>
              <a:t>Hitachi Digital Services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2BC33-890C-5ED2-009B-C0F8334831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901" y="4799918"/>
            <a:ext cx="4453790" cy="553998"/>
          </a:xfrm>
        </p:spPr>
        <p:txBody>
          <a:bodyPr/>
          <a:lstStyle/>
          <a:p>
            <a:pPr lvl="0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 b="0" err="1">
                <a:solidFill>
                  <a:prstClr val="white"/>
                </a:solidFill>
              </a:rPr>
              <a:t>HitachiDS</a:t>
            </a:r>
            <a:r>
              <a:rPr lang="en-US" sz="1800" b="0">
                <a:solidFill>
                  <a:prstClr val="white"/>
                </a:solidFill>
              </a:rPr>
              <a:t> Center for Architecture &amp; AI</a:t>
            </a:r>
            <a:endParaRPr lang="en-GB" sz="1800" b="0">
              <a:solidFill>
                <a:prstClr val="white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36B4948-3CBC-B81B-D8C9-60BB3281B9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9901" y="6184645"/>
            <a:ext cx="5161181" cy="190437"/>
          </a:xfrm>
        </p:spPr>
        <p:txBody>
          <a:bodyPr/>
          <a:lstStyle/>
          <a:p>
            <a:r>
              <a:rPr lang="en-GB" dirty="0"/>
              <a:t>Dated  Sept 2025</a:t>
            </a:r>
          </a:p>
        </p:txBody>
      </p:sp>
    </p:spTree>
    <p:extLst>
      <p:ext uri="{BB962C8B-B14F-4D97-AF65-F5344CB8AC3E}">
        <p14:creationId xmlns:p14="http://schemas.microsoft.com/office/powerpoint/2010/main" val="49147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F51C7-91E3-DE57-B544-72D02A13B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BE4FB8-0326-BF1C-9C4D-F233054F0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684214"/>
            <a:ext cx="6496051" cy="415498"/>
          </a:xfrm>
        </p:spPr>
        <p:txBody>
          <a:bodyPr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dirty="0"/>
              <a:t>About our </a:t>
            </a:r>
            <a:r>
              <a:rPr lang="en-US" sz="3000" dirty="0" err="1"/>
              <a:t>Datathon</a:t>
            </a:r>
            <a:r>
              <a:rPr lang="en-US" sz="3000" dirty="0"/>
              <a:t> challenge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F24384-F4AE-8D4C-07A1-5F365A28A347}"/>
              </a:ext>
            </a:extLst>
          </p:cNvPr>
          <p:cNvSpPr/>
          <p:nvPr/>
        </p:nvSpPr>
        <p:spPr>
          <a:xfrm>
            <a:off x="8386617" y="2549092"/>
            <a:ext cx="3611419" cy="3786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4350" b="0" i="0" u="none" strike="noStrike" kern="1200" cap="none" spc="0" normalizeH="0" baseline="0" noProof="0" dirty="0">
                <a:ln>
                  <a:noFill/>
                </a:ln>
                <a:solidFill>
                  <a:srgbClr val="FA000F"/>
                </a:solidFill>
                <a:effectLst/>
                <a:uLnTx/>
                <a:uFillTx/>
                <a:latin typeface="Hitachi Sans"/>
              </a:rPr>
              <a:t>1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15B55E5-2243-D8E4-D05C-54BD235A2A44}"/>
              </a:ext>
            </a:extLst>
          </p:cNvPr>
          <p:cNvSpPr>
            <a:spLocks noGrp="1"/>
          </p:cNvSpPr>
          <p:nvPr/>
        </p:nvSpPr>
        <p:spPr>
          <a:xfrm>
            <a:off x="469900" y="6338043"/>
            <a:ext cx="432000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F4BC05-462B-4F19-BE6B-A1043C81AA78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6B91E608-12E8-B2AD-143A-8A3D7D203551}"/>
              </a:ext>
            </a:extLst>
          </p:cNvPr>
          <p:cNvSpPr>
            <a:spLocks noGrp="1"/>
          </p:cNvSpPr>
          <p:nvPr/>
        </p:nvSpPr>
        <p:spPr>
          <a:xfrm>
            <a:off x="993132" y="6340043"/>
            <a:ext cx="3641725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Hitachi Digital Services   |   </a:t>
            </a:r>
            <a:r>
              <a:rPr lang="en-US"/>
              <a:t>Pratt AI Workshop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3881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61192-2CD6-D547-FFAC-36EDC96C3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979" y="440582"/>
            <a:ext cx="11367034" cy="304699"/>
          </a:xfrm>
        </p:spPr>
        <p:txBody>
          <a:bodyPr/>
          <a:lstStyle/>
          <a:p>
            <a:r>
              <a:rPr lang="en-US" dirty="0"/>
              <a:t>Hitachi Challenge : AI Powered Regulatory Document Classifier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474816-6137-A44C-D19E-ED4D9AAFF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DE22C2-E2FD-454A-B067-D49AEB318DA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861795-EBDA-9FAD-EFD2-36A624BEB5D9}"/>
              </a:ext>
            </a:extLst>
          </p:cNvPr>
          <p:cNvSpPr txBox="1"/>
          <p:nvPr/>
        </p:nvSpPr>
        <p:spPr>
          <a:xfrm>
            <a:off x="294161" y="896491"/>
            <a:ext cx="11367034" cy="566514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4F81BD"/>
                </a:solidFill>
                <a:effectLst/>
                <a:latin typeface="Hitachi Sans" pitchFamily="2" charset="77"/>
                <a:ea typeface="MS Gothic" panose="020B0609070205080204" pitchFamily="49" charset="-128"/>
                <a:cs typeface="Calibri" panose="020F0502020204030204" pitchFamily="34" charset="0"/>
              </a:rPr>
              <a:t>Description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effectLst/>
                <a:latin typeface="Hitachi Sans" pitchFamily="2" charset="77"/>
                <a:ea typeface="MS Gothic" panose="020B0609070205080204" pitchFamily="49" charset="-128"/>
                <a:cs typeface="Calibri" panose="020F0502020204030204" pitchFamily="34" charset="0"/>
              </a:rPr>
              <a:t>Build an AI-powered assistant that dynamically analyzes multi-page, multi-modal documents to classify them into Public, Confidential, Highly Sensitive, or Unsafe categories. The solution should leverage a configurable prompt library to generate dynamic prompt trees, incorporate Human-in-the-Loop (HITL) feedback to improve accuracy over time, and support both interactive and batch processing with real-time status updates. Pre-processing checks (e.g., legibility, page/image counts) are required. Outputs must include citation-based evidence pointing to the exact pages or images that led to each classification. Optionally, teams may employ two LLMs to cross-verify classifications to reduce HITL needs. The UI should be business-friendly with visualizations, detailed classification reports, audit trails, and easy file management, while ensuring compliance with data privacy and security policies.</a:t>
            </a:r>
            <a:endParaRPr lang="en-US" sz="1200" dirty="0">
              <a:effectLst/>
              <a:latin typeface="Hitachi Sans" pitchFamily="2" charset="77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4F81BD"/>
                </a:solidFill>
                <a:effectLst/>
                <a:latin typeface="Hitachi Sans" pitchFamily="2" charset="77"/>
                <a:ea typeface="MS Gothic" panose="020B0609070205080204" pitchFamily="49" charset="-128"/>
                <a:cs typeface="Calibri" panose="020F0502020204030204" pitchFamily="34" charset="0"/>
              </a:rPr>
              <a:t>Categories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200" b="1" dirty="0">
                <a:effectLst/>
                <a:latin typeface="Hitachi Sans" pitchFamily="2" charset="77"/>
                <a:ea typeface="MS Gothic" panose="020B0609070205080204" pitchFamily="49" charset="-128"/>
                <a:cs typeface="Calibri" panose="020F0502020204030204" pitchFamily="34" charset="0"/>
              </a:rPr>
              <a:t>Sensitive/Highly Sensitive: </a:t>
            </a:r>
            <a:r>
              <a:rPr lang="en-US" sz="1200" dirty="0">
                <a:effectLst/>
                <a:latin typeface="Hitachi Sans" pitchFamily="2" charset="77"/>
                <a:ea typeface="MS Gothic" panose="020B0609070205080204" pitchFamily="49" charset="-128"/>
                <a:cs typeface="Calibri" panose="020F0502020204030204" pitchFamily="34" charset="0"/>
              </a:rPr>
              <a:t>Content that includes PII like SSNs, account/credit card numbers, and proprietary schematics (e.g., defense or next‑gen product designs of military equipment).  </a:t>
            </a:r>
            <a:endParaRPr lang="en-US" sz="1200" dirty="0">
              <a:effectLst/>
              <a:latin typeface="Hitachi Sans" pitchFamily="2" charset="77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200" b="1" dirty="0">
                <a:effectLst/>
                <a:latin typeface="Hitachi Sans" pitchFamily="2" charset="77"/>
                <a:ea typeface="MS Gothic" panose="020B0609070205080204" pitchFamily="49" charset="-128"/>
                <a:cs typeface="Calibri" panose="020F0502020204030204" pitchFamily="34" charset="0"/>
              </a:rPr>
              <a:t>Confidential: </a:t>
            </a:r>
            <a:r>
              <a:rPr lang="en-US" sz="1200" dirty="0">
                <a:effectLst/>
                <a:latin typeface="Hitachi Sans" pitchFamily="2" charset="77"/>
                <a:ea typeface="MS Gothic" panose="020B0609070205080204" pitchFamily="49" charset="-128"/>
                <a:cs typeface="Calibri" panose="020F0502020204030204" pitchFamily="34" charset="0"/>
              </a:rPr>
              <a:t>Internal communications and business documents, customer details (names, addresses), and non-public operational content.</a:t>
            </a:r>
            <a:endParaRPr lang="en-US" sz="1200" dirty="0">
              <a:effectLst/>
              <a:latin typeface="Hitachi Sans" pitchFamily="2" charset="77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200" b="1" dirty="0">
                <a:effectLst/>
                <a:latin typeface="Hitachi Sans" pitchFamily="2" charset="77"/>
                <a:ea typeface="MS Gothic" panose="020B0609070205080204" pitchFamily="49" charset="-128"/>
                <a:cs typeface="Calibri" panose="020F0502020204030204" pitchFamily="34" charset="0"/>
              </a:rPr>
              <a:t>Public: </a:t>
            </a:r>
            <a:r>
              <a:rPr lang="en-US" sz="1200" dirty="0">
                <a:effectLst/>
                <a:latin typeface="Hitachi Sans" pitchFamily="2" charset="77"/>
                <a:ea typeface="MS Gothic" panose="020B0609070205080204" pitchFamily="49" charset="-128"/>
                <a:cs typeface="Calibri" panose="020F0502020204030204" pitchFamily="34" charset="0"/>
              </a:rPr>
              <a:t>Marketing materials, product brochures, public website content, generic images.</a:t>
            </a:r>
            <a:endParaRPr lang="en-US" sz="1200" dirty="0">
              <a:effectLst/>
              <a:latin typeface="Hitachi Sans" pitchFamily="2" charset="77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1200" b="1" dirty="0">
                <a:effectLst/>
                <a:latin typeface="Hitachi Sans" pitchFamily="2" charset="77"/>
                <a:ea typeface="MS Gothic" panose="020B0609070205080204" pitchFamily="49" charset="-128"/>
                <a:cs typeface="Calibri" panose="020F0502020204030204" pitchFamily="34" charset="0"/>
              </a:rPr>
              <a:t>Unsafe Content: </a:t>
            </a:r>
            <a:r>
              <a:rPr lang="en-US" sz="1200" dirty="0">
                <a:effectLst/>
                <a:latin typeface="Hitachi Sans" pitchFamily="2" charset="77"/>
                <a:ea typeface="MS Gothic" panose="020B0609070205080204" pitchFamily="49" charset="-128"/>
                <a:cs typeface="Calibri" panose="020F0502020204030204" pitchFamily="34" charset="0"/>
              </a:rPr>
              <a:t>In any case all content should be evaluated for Child Safety and should not include Hate speech, exploitative, violent, criminal, political news or cyber-threat content.</a:t>
            </a:r>
          </a:p>
          <a:p>
            <a:pPr marR="0" lvl="0">
              <a:lnSpc>
                <a:spcPct val="115000"/>
              </a:lnSpc>
              <a:spcAft>
                <a:spcPts val="1000"/>
              </a:spcAft>
            </a:pPr>
            <a:r>
              <a:rPr lang="en-US" sz="1200" b="1" dirty="0">
                <a:solidFill>
                  <a:srgbClr val="4F81BD"/>
                </a:solidFill>
                <a:effectLst/>
                <a:latin typeface="Hitachi Sans" pitchFamily="2" charset="77"/>
                <a:ea typeface="MS Gothic" panose="020B0609070205080204" pitchFamily="49" charset="-128"/>
                <a:cs typeface="Calibri" panose="020F0502020204030204" pitchFamily="34" charset="0"/>
              </a:rPr>
              <a:t>Evaluation Criteria</a:t>
            </a:r>
          </a:p>
          <a:p>
            <a:pPr marL="342900" marR="0" lvl="0" indent="-342900">
              <a:buFont typeface="+mj-lt"/>
              <a:buAutoNum type="romanUcPeriod"/>
            </a:pPr>
            <a:r>
              <a:rPr lang="en-US" sz="1200" dirty="0">
                <a:effectLst/>
                <a:latin typeface="Hitachi Sans" pitchFamily="2" charset="77"/>
                <a:ea typeface="MS Gothic" panose="020B0609070205080204" pitchFamily="49" charset="-128"/>
                <a:cs typeface="Calibri" panose="020F0502020204030204" pitchFamily="34" charset="0"/>
              </a:rPr>
              <a:t>Multi-modal input: accept text, images, and optional video.</a:t>
            </a:r>
            <a:endParaRPr lang="en-US" sz="1200" dirty="0">
              <a:effectLst/>
              <a:latin typeface="Hitachi Sans" pitchFamily="2" charset="77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marL="342900" marR="0" lvl="0" indent="-342900">
              <a:buFont typeface="+mj-lt"/>
              <a:buAutoNum type="romanUcPeriod"/>
            </a:pPr>
            <a:r>
              <a:rPr lang="en-US" sz="1200" dirty="0">
                <a:effectLst/>
                <a:latin typeface="Hitachi Sans" pitchFamily="2" charset="77"/>
                <a:ea typeface="MS Gothic" panose="020B0609070205080204" pitchFamily="49" charset="-128"/>
                <a:cs typeface="Calibri" panose="020F0502020204030204" pitchFamily="34" charset="0"/>
              </a:rPr>
              <a:t>Interactive and batch processing modes with real-time status updates.</a:t>
            </a:r>
            <a:endParaRPr lang="en-US" sz="1200" dirty="0">
              <a:effectLst/>
              <a:latin typeface="Hitachi Sans" pitchFamily="2" charset="77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marL="342900" marR="0" lvl="0" indent="-342900">
              <a:buFont typeface="+mj-lt"/>
              <a:buAutoNum type="romanUcPeriod"/>
            </a:pPr>
            <a:r>
              <a:rPr lang="en-US" sz="1200" dirty="0">
                <a:effectLst/>
                <a:latin typeface="Hitachi Sans" pitchFamily="2" charset="77"/>
                <a:ea typeface="MS Gothic" panose="020B0609070205080204" pitchFamily="49" charset="-128"/>
                <a:cs typeface="Calibri" panose="020F0502020204030204" pitchFamily="34" charset="0"/>
              </a:rPr>
              <a:t>Pre-processing checks: document legibility, page and image count.</a:t>
            </a:r>
            <a:endParaRPr lang="en-US" sz="1200" dirty="0">
              <a:effectLst/>
              <a:latin typeface="Hitachi Sans" pitchFamily="2" charset="77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marL="342900" marR="0" lvl="0" indent="-342900">
              <a:buFont typeface="+mj-lt"/>
              <a:buAutoNum type="romanUcPeriod"/>
            </a:pPr>
            <a:r>
              <a:rPr lang="en-US" sz="1200" dirty="0">
                <a:effectLst/>
                <a:latin typeface="Hitachi Sans" pitchFamily="2" charset="77"/>
                <a:ea typeface="MS Gothic" panose="020B0609070205080204" pitchFamily="49" charset="-128"/>
                <a:cs typeface="Calibri" panose="020F0502020204030204" pitchFamily="34" charset="0"/>
              </a:rPr>
              <a:t>Dynamic prompt tree generation from a configurable prompt library.</a:t>
            </a:r>
            <a:endParaRPr lang="en-US" sz="1200" dirty="0">
              <a:effectLst/>
              <a:latin typeface="Hitachi Sans" pitchFamily="2" charset="77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marL="342900" marR="0" lvl="0" indent="-342900">
              <a:buFont typeface="+mj-lt"/>
              <a:buAutoNum type="romanUcPeriod"/>
            </a:pPr>
            <a:r>
              <a:rPr lang="en-US" sz="1200" dirty="0">
                <a:effectLst/>
                <a:latin typeface="Hitachi Sans" pitchFamily="2" charset="77"/>
                <a:ea typeface="MS Gothic" panose="020B0609070205080204" pitchFamily="49" charset="-128"/>
                <a:cs typeface="Calibri" panose="020F0502020204030204" pitchFamily="34" charset="0"/>
              </a:rPr>
              <a:t>Citation-based results: reference exact pages or images for audit and compliance.</a:t>
            </a:r>
            <a:endParaRPr lang="en-US" sz="1200" dirty="0">
              <a:effectLst/>
              <a:latin typeface="Hitachi Sans" pitchFamily="2" charset="77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marL="342900" marR="0" lvl="0" indent="-342900">
              <a:buFont typeface="+mj-lt"/>
              <a:buAutoNum type="romanUcPeriod"/>
            </a:pPr>
            <a:r>
              <a:rPr lang="en-US" sz="1200" dirty="0">
                <a:effectLst/>
                <a:latin typeface="Hitachi Sans" pitchFamily="2" charset="77"/>
                <a:ea typeface="MS Gothic" panose="020B0609070205080204" pitchFamily="49" charset="-128"/>
                <a:cs typeface="Calibri" panose="020F0502020204030204" pitchFamily="34" charset="0"/>
              </a:rPr>
              <a:t>Safety monitoring: automatically detect Unsafe content and flag for human review.</a:t>
            </a:r>
            <a:endParaRPr lang="en-US" sz="1200" dirty="0">
              <a:effectLst/>
              <a:latin typeface="Hitachi Sans" pitchFamily="2" charset="77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marL="342900" marR="0" lvl="0" indent="-342900">
              <a:buFont typeface="+mj-lt"/>
              <a:buAutoNum type="romanUcPeriod"/>
            </a:pPr>
            <a:r>
              <a:rPr lang="en-US" sz="1200" dirty="0">
                <a:effectLst/>
                <a:latin typeface="Hitachi Sans" pitchFamily="2" charset="77"/>
                <a:ea typeface="MS Gothic" panose="020B0609070205080204" pitchFamily="49" charset="-128"/>
                <a:cs typeface="Calibri" panose="020F0502020204030204" pitchFamily="34" charset="0"/>
              </a:rPr>
              <a:t>HITL feedback loop: enable SMEs to validate outputs and refine prompt logic.</a:t>
            </a:r>
          </a:p>
          <a:p>
            <a:pPr marL="342900" indent="-342900">
              <a:buFont typeface="+mj-lt"/>
              <a:buAutoNum type="romanUcPeriod"/>
            </a:pPr>
            <a:r>
              <a:rPr lang="en-US" sz="1200" dirty="0">
                <a:latin typeface="Hitachi Sans" pitchFamily="2" charset="77"/>
                <a:ea typeface="MS Gothic" panose="020B0609070205080204" pitchFamily="49" charset="-128"/>
                <a:cs typeface="Calibri" panose="020F0502020204030204" pitchFamily="34" charset="0"/>
              </a:rPr>
              <a:t>Rich UI: clear visualizations, detailed classification reports, audit trails, and file management.</a:t>
            </a:r>
            <a:r>
              <a:rPr lang="en-US" sz="1200" dirty="0">
                <a:latin typeface="Hitachi Sans" pitchFamily="2" charset="77"/>
                <a:cs typeface="Calibri" panose="020F0502020204030204" pitchFamily="34" charset="0"/>
              </a:rPr>
              <a:t> </a:t>
            </a:r>
            <a:endParaRPr lang="en-US" sz="1200" dirty="0">
              <a:effectLst/>
              <a:latin typeface="Hitachi Sans" pitchFamily="2" charset="77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marL="342900" marR="0" lvl="0" indent="-342900">
              <a:spcAft>
                <a:spcPts val="1000"/>
              </a:spcAft>
              <a:buFont typeface="+mj-lt"/>
              <a:buAutoNum type="romanUcPeriod"/>
            </a:pPr>
            <a:r>
              <a:rPr lang="en-US" sz="1200" dirty="0">
                <a:effectLst/>
                <a:latin typeface="Hitachi Sans" pitchFamily="2" charset="77"/>
                <a:ea typeface="MS Gothic" panose="020B0609070205080204" pitchFamily="49" charset="-128"/>
                <a:cs typeface="Calibri" panose="020F0502020204030204" pitchFamily="34" charset="0"/>
              </a:rPr>
              <a:t>Double-layered AI validation (optional): two LLMs to cross-verify classifications.</a:t>
            </a:r>
            <a:endParaRPr lang="en-US" sz="1200" dirty="0">
              <a:latin typeface="Hitachi Sans" pitchFamily="2" charset="77"/>
              <a:ea typeface="MS Mincho" panose="02020609040205080304" pitchFamily="49" charset="-128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061A2C-746A-8516-4913-0ACF55CBD78C}"/>
              </a:ext>
            </a:extLst>
          </p:cNvPr>
          <p:cNvSpPr txBox="1"/>
          <p:nvPr/>
        </p:nvSpPr>
        <p:spPr>
          <a:xfrm>
            <a:off x="8024883" y="4688982"/>
            <a:ext cx="3077569" cy="156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Scoring &amp; Rubric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400" b="1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Classification Accuracy (50%) 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400" b="1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Reducing HITL involvement (20%)</a:t>
            </a:r>
            <a:r>
              <a:rPr lang="en-US" sz="140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.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400" b="1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Processing Efficiency (10%)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400" b="1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User Experience &amp; UI (10%)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400" b="1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Content Safety evaluation (10%)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912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E0B6E-0A29-C217-6F0D-78BE0D082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CCD467-84A7-49CE-FC71-50181C301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Hitachi Digital Services   |   </a:t>
            </a:r>
            <a:r>
              <a:rPr lang="en-US"/>
              <a:t>AI Practice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E9E21-F289-060F-5F71-7DBFA6105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4BC05-462B-4F19-BE6B-A1043C81AA78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2FF41C-C487-AB34-17AE-FC3F57F4DD3B}"/>
              </a:ext>
            </a:extLst>
          </p:cNvPr>
          <p:cNvSpPr txBox="1"/>
          <p:nvPr/>
        </p:nvSpPr>
        <p:spPr>
          <a:xfrm>
            <a:off x="6205728" y="359664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10000"/>
              </a:lnSpc>
            </a:pPr>
            <a:endParaRPr lang="en-US" sz="8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72388555"/>
      </p:ext>
    </p:extLst>
  </p:cSld>
  <p:clrMapOvr>
    <a:masterClrMapping/>
  </p:clrMapOvr>
</p:sld>
</file>

<file path=ppt/theme/theme1.xml><?xml version="1.0" encoding="utf-8"?>
<a:theme xmlns:a="http://schemas.openxmlformats.org/drawingml/2006/main" name="Hitachi Theme">
  <a:themeElements>
    <a:clrScheme name="Hitachi">
      <a:dk1>
        <a:sysClr val="windowText" lastClr="000000"/>
      </a:dk1>
      <a:lt1>
        <a:sysClr val="window" lastClr="FFFFFF"/>
      </a:lt1>
      <a:dk2>
        <a:srgbClr val="222222"/>
      </a:dk2>
      <a:lt2>
        <a:srgbClr val="CC0000"/>
      </a:lt2>
      <a:accent1>
        <a:srgbClr val="FA000F"/>
      </a:accent1>
      <a:accent2>
        <a:srgbClr val="4D4D4D"/>
      </a:accent2>
      <a:accent3>
        <a:srgbClr val="737373"/>
      </a:accent3>
      <a:accent4>
        <a:srgbClr val="B3B3B3"/>
      </a:accent4>
      <a:accent5>
        <a:srgbClr val="D9D9D9"/>
      </a:accent5>
      <a:accent6>
        <a:srgbClr val="F4F4F4"/>
      </a:accent6>
      <a:hlink>
        <a:srgbClr val="000000"/>
      </a:hlink>
      <a:folHlink>
        <a:srgbClr val="222222"/>
      </a:folHlink>
    </a:clrScheme>
    <a:fontScheme name="Hitachi">
      <a:majorFont>
        <a:latin typeface="Hitachi Sans"/>
        <a:ea typeface=""/>
        <a:cs typeface=""/>
      </a:majorFont>
      <a:minorFont>
        <a:latin typeface="Hitachi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defRPr sz="800" dirty="0" smtClean="0">
            <a:effectLst/>
          </a:defRPr>
        </a:defPPr>
      </a:lstStyle>
    </a:txDef>
  </a:objectDefaults>
  <a:extraClrSchemeLst/>
  <a:custClrLst>
    <a:custClr name="Green">
      <a:srgbClr val="00FA82"/>
    </a:custClr>
    <a:custClr name="Cyan">
      <a:srgbClr val="00DCFA"/>
    </a:custClr>
    <a:custClr name="Blue">
      <a:srgbClr val="0064FA"/>
    </a:custClr>
    <a:custClr name="Purple">
      <a:srgbClr val="9B00FA"/>
    </a:custClr>
    <a:custClr name="Pink">
      <a:srgbClr val="FA00A5"/>
    </a:custClr>
    <a:custClr name="Orange">
      <a:srgbClr val="FA6900"/>
    </a:custClr>
    <a:custClr name="Yellow">
      <a:srgbClr val="FAD200"/>
    </a:custClr>
  </a:custClr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21BA59EC4A57419CA02D3FDF37278E" ma:contentTypeVersion="17" ma:contentTypeDescription="Create a new document." ma:contentTypeScope="" ma:versionID="404687ec0bc2e388748c9a890c29821b">
  <xsd:schema xmlns:xsd="http://www.w3.org/2001/XMLSchema" xmlns:xs="http://www.w3.org/2001/XMLSchema" xmlns:p="http://schemas.microsoft.com/office/2006/metadata/properties" xmlns:ns2="b855169f-360c-4ed9-8036-d296c4dcdc57" xmlns:ns3="52331762-2fa4-44e8-8c7e-3b8792f31e74" targetNamespace="http://schemas.microsoft.com/office/2006/metadata/properties" ma:root="true" ma:fieldsID="053441be476ab94591094e8ce7affa71" ns2:_="" ns3:_="">
    <xsd:import namespace="b855169f-360c-4ed9-8036-d296c4dcdc57"/>
    <xsd:import namespace="52331762-2fa4-44e8-8c7e-3b8792f31e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55169f-360c-4ed9-8036-d296c4dcdc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37650c0f-eee0-4e17-8522-a3a6532ea5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331762-2fa4-44e8-8c7e-3b8792f31e7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349c882-b13a-49ce-9df9-e5dbf774d0c3}" ma:internalName="TaxCatchAll" ma:showField="CatchAllData" ma:web="52331762-2fa4-44e8-8c7e-3b8792f31e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855169f-360c-4ed9-8036-d296c4dcdc57">
      <Terms xmlns="http://schemas.microsoft.com/office/infopath/2007/PartnerControls"/>
    </lcf76f155ced4ddcb4097134ff3c332f>
    <TaxCatchAll xmlns="52331762-2fa4-44e8-8c7e-3b8792f31e74" xsi:nil="true"/>
  </documentManagement>
</p:properties>
</file>

<file path=customXml/itemProps1.xml><?xml version="1.0" encoding="utf-8"?>
<ds:datastoreItem xmlns:ds="http://schemas.openxmlformats.org/officeDocument/2006/customXml" ds:itemID="{4CA557B8-3679-4BCC-8A36-D7E1549FBB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0E9B14-D34A-4758-9532-A6F5308A66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55169f-360c-4ed9-8036-d296c4dcdc57"/>
    <ds:schemaRef ds:uri="52331762-2fa4-44e8-8c7e-3b8792f31e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6023C7-747B-4388-B36D-4F0FFD9B6953}">
  <ds:schemaRefs>
    <ds:schemaRef ds:uri="http://www.w3.org/XML/1998/namespace"/>
    <ds:schemaRef ds:uri="b855169f-360c-4ed9-8036-d296c4dcdc57"/>
    <ds:schemaRef ds:uri="http://purl.org/dc/dcmitype/"/>
    <ds:schemaRef ds:uri="http://purl.org/dc/terms/"/>
    <ds:schemaRef ds:uri="http://schemas.openxmlformats.org/package/2006/metadata/core-properties"/>
    <ds:schemaRef ds:uri="http://purl.org/dc/elements/1.1/"/>
    <ds:schemaRef ds:uri="52331762-2fa4-44e8-8c7e-3b8792f31e74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18791e17-6159-4f52-a8d4-de814ca8284a}" enabled="0" method="" siteId="{18791e17-6159-4f52-a8d4-de814ca828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2222</TotalTime>
  <Words>443</Words>
  <Application>Microsoft Macintosh PowerPoint</Application>
  <PresentationFormat>Widescreen</PresentationFormat>
  <Paragraphs>36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Hitachi Sans</vt:lpstr>
      <vt:lpstr>Arial</vt:lpstr>
      <vt:lpstr>Cambria</vt:lpstr>
      <vt:lpstr>Calibri</vt:lpstr>
      <vt:lpstr>Hitachi Theme</vt:lpstr>
      <vt:lpstr>Hitachi DS Datathon Challenge</vt:lpstr>
      <vt:lpstr>About our Datathon challenge</vt:lpstr>
      <vt:lpstr>Hitachi Challenge : AI Powered Regulatory Document Classifier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Klair Clarke</dc:creator>
  <cp:lastModifiedBy>Chandra Ganapathy</cp:lastModifiedBy>
  <cp:revision>68</cp:revision>
  <dcterms:created xsi:type="dcterms:W3CDTF">2024-07-17T12:29:18Z</dcterms:created>
  <dcterms:modified xsi:type="dcterms:W3CDTF">2025-11-08T15:46:58Z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0x010100E821BA59EC4A57419CA02D3FDF37278E</vt:lpwstr>
  </property>
  <property fmtid="{D5CDD505-2E9C-101B-9397-08002B2CF9AE}" pid="3" name="MediaServiceImageTags">
    <vt:lpwstr/>
  </property>
</Properties>
</file>